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77" r:id="rId6"/>
    <p:sldId id="283" r:id="rId7"/>
    <p:sldId id="292" r:id="rId8"/>
    <p:sldId id="293" r:id="rId9"/>
    <p:sldId id="280" r:id="rId10"/>
    <p:sldId id="281" r:id="rId11"/>
    <p:sldId id="282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36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8C1C13-2C9A-404D-939F-A570147E405E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ru-RU" noProof="1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4B43695-5FA6-4F02-B9E0-061FEB8531FD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1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ru-RU" noProof="1" dirty="0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2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959845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3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9912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4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500452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5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344770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6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4276991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7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018374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8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391563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9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290146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10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557243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11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282158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12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978665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13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773291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14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6637079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15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41828586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ru-RU" noProof="1" smtClean="0"/>
              <a:t>16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06183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Овал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ru-RU" noProof="1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B0782AA3-67B9-4765-B9F6-4486863CD55C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  <p:cxnSp>
        <p:nvCxnSpPr>
          <p:cNvPr id="8" name="Прямая соединительная линия 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DB0E4F-7BB1-42EC-B34F-39E61A9121B8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Овал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E63DF0-04AB-40A2-A39B-2EAD6A41AAB2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343B54-B784-47DB-9722-6EEFBA96FE07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BA405B-501A-4E54-AFB2-3B13C5F617A9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208A24-1338-4F05-A509-1513283A2797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D0572F-6397-40EE-AB86-2EC01D1D6D88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A97C8E3-02EA-40C4-9657-C147DCAB62A9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BF24CD-D290-4591-A4FE-82402995ECFA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ru-RU" noProof="1" dirty="0" smtClean="0"/>
              <a:t>‹#›</a:t>
            </a:fld>
            <a:endParaRPr lang="ru-RU" noProof="1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702670-8E65-484A-AE81-011E0AB377F4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6A1581-D96C-4713-A7B2-04645BB123FB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u-RU" noProof="1" dirty="0" smtClean="0"/>
              <a:t>‹#›</a:t>
            </a:fld>
            <a:endParaRPr lang="ru-RU" noProof="1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1FA4ABA8-BD9A-4E07-908B-7C1BB26B50FF}" type="datetime1">
              <a:rPr lang="ru-RU" noProof="1" smtClean="0"/>
              <a:t>19.03.2025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ru-RU" noProof="1" dirty="0" smtClean="0"/>
              <a:pPr/>
              <a:t>‹#›</a:t>
            </a:fld>
            <a:endParaRPr lang="ru-RU" noProof="1"/>
          </a:p>
        </p:txBody>
      </p:sp>
      <p:cxnSp>
        <p:nvCxnSpPr>
          <p:cNvPr id="7" name="Прямая соединительная линия 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-3254" y="0"/>
            <a:ext cx="1219198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433F82-B792-462D-8E87-C669A050206E}"/>
              </a:ext>
            </a:extLst>
          </p:cNvPr>
          <p:cNvSpPr txBox="1"/>
          <p:nvPr/>
        </p:nvSpPr>
        <p:spPr>
          <a:xfrm>
            <a:off x="8436429" y="4962578"/>
            <a:ext cx="36137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Семакина Лада Владиславовна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21П-1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Специальность: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09.02.07 Информационные 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и программирование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75E620F-9761-4689-BDBB-AFB3C470B726}"/>
              </a:ext>
            </a:extLst>
          </p:cNvPr>
          <p:cNvSpPr/>
          <p:nvPr/>
        </p:nvSpPr>
        <p:spPr>
          <a:xfrm>
            <a:off x="2057398" y="2551837"/>
            <a:ext cx="8486285" cy="1754326"/>
          </a:xfrm>
          <a:prstGeom prst="rect">
            <a:avLst/>
          </a:prstGeom>
          <a:solidFill>
            <a:schemeClr val="tx1">
              <a:alpha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589" y="2228940"/>
            <a:ext cx="8901901" cy="1499616"/>
          </a:xfrm>
        </p:spPr>
        <p:txBody>
          <a:bodyPr rtlCol="0" anchor="b">
            <a:no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Учебная практика по модулю </a:t>
            </a:r>
            <a:b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ПM 01. Разработка модулей программного</a:t>
            </a:r>
            <a:b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обеспечения для компьютерных систем</a:t>
            </a:r>
            <a:endParaRPr lang="ru-RU" sz="2400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605BF37-840D-483C-94E0-38E73B2D828B}"/>
              </a:ext>
            </a:extLst>
          </p:cNvPr>
          <p:cNvCxnSpPr/>
          <p:nvPr/>
        </p:nvCxnSpPr>
        <p:spPr>
          <a:xfrm>
            <a:off x="2286000" y="3736012"/>
            <a:ext cx="795730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touch-icon-ipad-retina">
            <a:extLst>
              <a:ext uri="{FF2B5EF4-FFF2-40B4-BE49-F238E27FC236}">
                <a16:creationId xmlns:a16="http://schemas.microsoft.com/office/drawing/2014/main" id="{237B3FD6-A8D6-4A57-96DA-831400B3C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690" y="0"/>
            <a:ext cx="1258888" cy="12588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382EA18-3681-4120-B931-5CD4C986F28C}"/>
              </a:ext>
            </a:extLst>
          </p:cNvPr>
          <p:cNvSpPr txBox="1"/>
          <p:nvPr/>
        </p:nvSpPr>
        <p:spPr>
          <a:xfrm>
            <a:off x="2885261" y="226934"/>
            <a:ext cx="6414950" cy="923330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D862043-B37F-4493-BA04-63813C34B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764" y="743621"/>
            <a:ext cx="8393439" cy="5948342"/>
          </a:xfrm>
          <a:prstGeom prst="rect">
            <a:avLst/>
          </a:prstGeom>
          <a:ln>
            <a:solidFill>
              <a:srgbClr val="5E636F"/>
            </a:solidFill>
          </a:ln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5ECEBD4-104E-49AC-99CD-F916F5C0E0B2}"/>
              </a:ext>
            </a:extLst>
          </p:cNvPr>
          <p:cNvCxnSpPr>
            <a:cxnSpLocks/>
          </p:cNvCxnSpPr>
          <p:nvPr/>
        </p:nvCxnSpPr>
        <p:spPr>
          <a:xfrm>
            <a:off x="6601097" y="-30294"/>
            <a:ext cx="5590903" cy="1784617"/>
          </a:xfrm>
          <a:prstGeom prst="line">
            <a:avLst/>
          </a:prstGeom>
          <a:ln>
            <a:solidFill>
              <a:srgbClr val="5E63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50C711-CEB0-417E-AAFD-F41218A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630994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Рисунок 1 – диаграмма вариантов использования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2125AD27-5F75-4E09-9D74-234C1F54CBDE}"/>
              </a:ext>
            </a:extLst>
          </p:cNvPr>
          <p:cNvSpPr/>
          <p:nvPr/>
        </p:nvSpPr>
        <p:spPr>
          <a:xfrm>
            <a:off x="10145487" y="425450"/>
            <a:ext cx="1754325" cy="1754325"/>
          </a:xfrm>
          <a:prstGeom prst="ellipse">
            <a:avLst/>
          </a:prstGeom>
          <a:noFill/>
          <a:ln>
            <a:solidFill>
              <a:srgbClr val="5E6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21CF0430-F9B0-4724-B633-4AA481104991}"/>
              </a:ext>
            </a:extLst>
          </p:cNvPr>
          <p:cNvSpPr/>
          <p:nvPr/>
        </p:nvSpPr>
        <p:spPr>
          <a:xfrm>
            <a:off x="10636803" y="916766"/>
            <a:ext cx="771691" cy="7716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9FFCE52-6597-4D63-85E5-B2531547F48F}"/>
              </a:ext>
            </a:extLst>
          </p:cNvPr>
          <p:cNvCxnSpPr>
            <a:cxnSpLocks/>
          </p:cNvCxnSpPr>
          <p:nvPr/>
        </p:nvCxnSpPr>
        <p:spPr>
          <a:xfrm flipV="1">
            <a:off x="8142514" y="2055223"/>
            <a:ext cx="4049486" cy="5225144"/>
          </a:xfrm>
          <a:prstGeom prst="line">
            <a:avLst/>
          </a:prstGeom>
          <a:ln>
            <a:solidFill>
              <a:srgbClr val="5E63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9FFCE52-6597-4D63-85E5-B2531547F48F}"/>
              </a:ext>
            </a:extLst>
          </p:cNvPr>
          <p:cNvCxnSpPr>
            <a:cxnSpLocks/>
          </p:cNvCxnSpPr>
          <p:nvPr/>
        </p:nvCxnSpPr>
        <p:spPr>
          <a:xfrm flipV="1">
            <a:off x="200545" y="-482600"/>
            <a:ext cx="8439791" cy="9831066"/>
          </a:xfrm>
          <a:prstGeom prst="line">
            <a:avLst/>
          </a:prstGeom>
          <a:ln>
            <a:solidFill>
              <a:srgbClr val="5E63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5ECEBD4-104E-49AC-99CD-F916F5C0E0B2}"/>
              </a:ext>
            </a:extLst>
          </p:cNvPr>
          <p:cNvCxnSpPr>
            <a:cxnSpLocks/>
          </p:cNvCxnSpPr>
          <p:nvPr/>
        </p:nvCxnSpPr>
        <p:spPr>
          <a:xfrm>
            <a:off x="-2791106" y="4298087"/>
            <a:ext cx="8214006" cy="2651927"/>
          </a:xfrm>
          <a:prstGeom prst="line">
            <a:avLst/>
          </a:prstGeom>
          <a:ln>
            <a:solidFill>
              <a:srgbClr val="5E63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2125AD27-5F75-4E09-9D74-234C1F54CBDE}"/>
              </a:ext>
            </a:extLst>
          </p:cNvPr>
          <p:cNvSpPr/>
          <p:nvPr/>
        </p:nvSpPr>
        <p:spPr>
          <a:xfrm>
            <a:off x="753284" y="4753831"/>
            <a:ext cx="1754325" cy="1754325"/>
          </a:xfrm>
          <a:prstGeom prst="ellipse">
            <a:avLst/>
          </a:prstGeom>
          <a:noFill/>
          <a:ln>
            <a:solidFill>
              <a:srgbClr val="5E6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21CF0430-F9B0-4724-B633-4AA481104991}"/>
              </a:ext>
            </a:extLst>
          </p:cNvPr>
          <p:cNvSpPr/>
          <p:nvPr/>
        </p:nvSpPr>
        <p:spPr>
          <a:xfrm>
            <a:off x="1244600" y="5245147"/>
            <a:ext cx="771691" cy="7716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3100DCC-D1DF-40FC-A0FC-0B1D47E61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733" y="850900"/>
            <a:ext cx="4128479" cy="5409089"/>
          </a:xfrm>
          <a:prstGeom prst="rect">
            <a:avLst/>
          </a:prstGeom>
          <a:ln>
            <a:solidFill>
              <a:srgbClr val="5E636F"/>
            </a:solidFill>
          </a:ln>
        </p:spPr>
      </p:pic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0CBC11B9-ACAA-49CA-81CB-EA509B1B314A}"/>
              </a:ext>
            </a:extLst>
          </p:cNvPr>
          <p:cNvSpPr txBox="1">
            <a:spLocks/>
          </p:cNvSpPr>
          <p:nvPr/>
        </p:nvSpPr>
        <p:spPr>
          <a:xfrm>
            <a:off x="9111875" y="5707539"/>
            <a:ext cx="28194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Рисунок 2 – диаграмма деятельности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2390644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9FFCE52-6597-4D63-85E5-B2531547F48F}"/>
              </a:ext>
            </a:extLst>
          </p:cNvPr>
          <p:cNvCxnSpPr>
            <a:cxnSpLocks/>
          </p:cNvCxnSpPr>
          <p:nvPr/>
        </p:nvCxnSpPr>
        <p:spPr>
          <a:xfrm rot="7105518" flipV="1">
            <a:off x="8976094" y="-399112"/>
            <a:ext cx="8439791" cy="9831066"/>
          </a:xfrm>
          <a:prstGeom prst="line">
            <a:avLst/>
          </a:prstGeom>
          <a:ln>
            <a:solidFill>
              <a:srgbClr val="5E63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5ECEBD4-104E-49AC-99CD-F916F5C0E0B2}"/>
              </a:ext>
            </a:extLst>
          </p:cNvPr>
          <p:cNvCxnSpPr>
            <a:cxnSpLocks/>
          </p:cNvCxnSpPr>
          <p:nvPr/>
        </p:nvCxnSpPr>
        <p:spPr>
          <a:xfrm rot="7105518">
            <a:off x="5984443" y="4381575"/>
            <a:ext cx="8214006" cy="2651927"/>
          </a:xfrm>
          <a:prstGeom prst="line">
            <a:avLst/>
          </a:prstGeom>
          <a:ln>
            <a:solidFill>
              <a:srgbClr val="5E63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2125AD27-5F75-4E09-9D74-234C1F54CBDE}"/>
              </a:ext>
            </a:extLst>
          </p:cNvPr>
          <p:cNvSpPr/>
          <p:nvPr/>
        </p:nvSpPr>
        <p:spPr>
          <a:xfrm rot="7105518">
            <a:off x="9528833" y="4837319"/>
            <a:ext cx="1754325" cy="1754325"/>
          </a:xfrm>
          <a:prstGeom prst="ellipse">
            <a:avLst/>
          </a:prstGeom>
          <a:noFill/>
          <a:ln>
            <a:solidFill>
              <a:srgbClr val="5E6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21CF0430-F9B0-4724-B633-4AA481104991}"/>
              </a:ext>
            </a:extLst>
          </p:cNvPr>
          <p:cNvSpPr/>
          <p:nvPr/>
        </p:nvSpPr>
        <p:spPr>
          <a:xfrm rot="7105518">
            <a:off x="10020149" y="5328635"/>
            <a:ext cx="771691" cy="7716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3">
            <a:extLst>
              <a:ext uri="{FF2B5EF4-FFF2-40B4-BE49-F238E27FC236}">
                <a16:creationId xmlns:a16="http://schemas.microsoft.com/office/drawing/2014/main" id="{0CBC11B9-ACAA-49CA-81CB-EA509B1B314A}"/>
              </a:ext>
            </a:extLst>
          </p:cNvPr>
          <p:cNvSpPr txBox="1">
            <a:spLocks/>
          </p:cNvSpPr>
          <p:nvPr/>
        </p:nvSpPr>
        <p:spPr>
          <a:xfrm>
            <a:off x="8996294" y="2535203"/>
            <a:ext cx="28194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Рисунок 2 – диаграмма последовательности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7723461-452C-43CA-81DC-CD7A67EA6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574" y="1110214"/>
            <a:ext cx="7437726" cy="5321780"/>
          </a:xfrm>
          <a:prstGeom prst="rect">
            <a:avLst/>
          </a:prstGeom>
          <a:ln>
            <a:solidFill>
              <a:srgbClr val="5E636F"/>
            </a:solidFill>
          </a:ln>
        </p:spPr>
      </p:pic>
    </p:spTree>
    <p:extLst>
      <p:ext uri="{BB962C8B-B14F-4D97-AF65-F5344CB8AC3E}">
        <p14:creationId xmlns:p14="http://schemas.microsoft.com/office/powerpoint/2010/main" val="2444297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5ECEBD4-104E-49AC-99CD-F916F5C0E0B2}"/>
              </a:ext>
            </a:extLst>
          </p:cNvPr>
          <p:cNvCxnSpPr>
            <a:cxnSpLocks/>
          </p:cNvCxnSpPr>
          <p:nvPr/>
        </p:nvCxnSpPr>
        <p:spPr>
          <a:xfrm rot="7105518">
            <a:off x="5388791" y="3027413"/>
            <a:ext cx="8214006" cy="2651927"/>
          </a:xfrm>
          <a:prstGeom prst="line">
            <a:avLst/>
          </a:prstGeom>
          <a:ln>
            <a:solidFill>
              <a:srgbClr val="5E63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2125AD27-5F75-4E09-9D74-234C1F54CBDE}"/>
              </a:ext>
            </a:extLst>
          </p:cNvPr>
          <p:cNvSpPr/>
          <p:nvPr/>
        </p:nvSpPr>
        <p:spPr>
          <a:xfrm rot="7105518">
            <a:off x="10056592" y="1044434"/>
            <a:ext cx="1754325" cy="1754325"/>
          </a:xfrm>
          <a:prstGeom prst="ellipse">
            <a:avLst/>
          </a:prstGeom>
          <a:noFill/>
          <a:ln>
            <a:solidFill>
              <a:srgbClr val="5E63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B43AF70-9DFB-4FDB-8727-834C7166C02A}"/>
              </a:ext>
            </a:extLst>
          </p:cNvPr>
          <p:cNvCxnSpPr>
            <a:cxnSpLocks/>
          </p:cNvCxnSpPr>
          <p:nvPr/>
        </p:nvCxnSpPr>
        <p:spPr>
          <a:xfrm>
            <a:off x="6710032" y="-284070"/>
            <a:ext cx="7869568" cy="3605775"/>
          </a:xfrm>
          <a:prstGeom prst="line">
            <a:avLst/>
          </a:prstGeom>
          <a:ln>
            <a:solidFill>
              <a:srgbClr val="5E63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>
            <a:extLst>
              <a:ext uri="{FF2B5EF4-FFF2-40B4-BE49-F238E27FC236}">
                <a16:creationId xmlns:a16="http://schemas.microsoft.com/office/drawing/2014/main" id="{21CF0430-F9B0-4724-B633-4AA481104991}"/>
              </a:ext>
            </a:extLst>
          </p:cNvPr>
          <p:cNvSpPr/>
          <p:nvPr/>
        </p:nvSpPr>
        <p:spPr>
          <a:xfrm rot="7105518">
            <a:off x="10547908" y="1535750"/>
            <a:ext cx="771691" cy="7716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3">
            <a:extLst>
              <a:ext uri="{FF2B5EF4-FFF2-40B4-BE49-F238E27FC236}">
                <a16:creationId xmlns:a16="http://schemas.microsoft.com/office/drawing/2014/main" id="{FD995C0E-BCC0-4381-917E-85463862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745296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Рисунок 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ER 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C57D322-B3E0-4668-A9AD-45F509642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976962"/>
            <a:ext cx="8020599" cy="5770694"/>
          </a:xfrm>
          <a:prstGeom prst="rect">
            <a:avLst/>
          </a:prstGeom>
          <a:ln>
            <a:solidFill>
              <a:srgbClr val="5E636F"/>
            </a:solidFill>
          </a:ln>
        </p:spPr>
      </p:pic>
    </p:spTree>
    <p:extLst>
      <p:ext uri="{BB962C8B-B14F-4D97-AF65-F5344CB8AC3E}">
        <p14:creationId xmlns:p14="http://schemas.microsoft.com/office/powerpoint/2010/main" val="747195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5E6E2A-035C-41D5-942E-5DD51A19C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1182086"/>
            <a:ext cx="7912100" cy="4916256"/>
          </a:xfrm>
          <a:prstGeom prst="rect">
            <a:avLst/>
          </a:prstGeom>
          <a:ln>
            <a:solidFill>
              <a:srgbClr val="5E636F"/>
            </a:solidFill>
          </a:ln>
        </p:spPr>
      </p:pic>
      <p:sp>
        <p:nvSpPr>
          <p:cNvPr id="11" name="Заголовок 3">
            <a:extLst>
              <a:ext uri="{FF2B5EF4-FFF2-40B4-BE49-F238E27FC236}">
                <a16:creationId xmlns:a16="http://schemas.microsoft.com/office/drawing/2014/main" id="{FB4268F0-2712-468D-968C-E073B55F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745296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Рисунок 5 – диаграмма из БД</a:t>
            </a:r>
          </a:p>
        </p:txBody>
      </p:sp>
    </p:spTree>
    <p:extLst>
      <p:ext uri="{BB962C8B-B14F-4D97-AF65-F5344CB8AC3E}">
        <p14:creationId xmlns:p14="http://schemas.microsoft.com/office/powerpoint/2010/main" val="425335043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50C711-CEB0-417E-AAFD-F41218A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745296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Рисунки 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 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7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приложение 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API</a:t>
            </a:r>
            <a:endParaRPr lang="ru-RU" sz="1800" cap="none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9DEBAA-F3EC-46D6-8CCE-B600F7788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04" y="1049274"/>
            <a:ext cx="8111696" cy="32198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CFDEBF-0175-40CC-915E-33FC908CC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400" y="2020265"/>
            <a:ext cx="6200293" cy="44976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1170314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50C711-CEB0-417E-AAFD-F41218A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745296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Рисунки 8, 9 и 10 – библиотека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9F18715-B331-467E-8412-7F8AB0369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850900"/>
            <a:ext cx="3765481" cy="581083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6699949-1BE6-44E3-8244-C0B5319A0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817" y="850900"/>
            <a:ext cx="5229955" cy="213389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14EFBAA-E1BA-4713-823D-E0E7562FD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8817" y="3226451"/>
            <a:ext cx="5229955" cy="22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433267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50C711-CEB0-417E-AAFD-F41218A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745296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Рисунки 11, 12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13 – настольное приложение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F3DDBC-6087-4B2D-BD67-8F3441AAA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4" y="1982452"/>
            <a:ext cx="3691144" cy="3023649"/>
          </a:xfrm>
          <a:prstGeom prst="rect">
            <a:avLst/>
          </a:prstGeom>
          <a:ln>
            <a:solidFill>
              <a:srgbClr val="5E636F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E463DF-5E4F-4945-A0A5-9AB533005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853" y="850900"/>
            <a:ext cx="4584791" cy="262406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5DD1A67-3BB5-4E64-A449-A1BF6281F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853" y="3714456"/>
            <a:ext cx="4584791" cy="25832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A46694-A7AD-44FB-ADE9-438CF0EA0E16}"/>
              </a:ext>
            </a:extLst>
          </p:cNvPr>
          <p:cNvSpPr txBox="1"/>
          <p:nvPr/>
        </p:nvSpPr>
        <p:spPr>
          <a:xfrm>
            <a:off x="9664700" y="875140"/>
            <a:ext cx="185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Роль: администратор</a:t>
            </a:r>
          </a:p>
        </p:txBody>
      </p:sp>
    </p:spTree>
    <p:extLst>
      <p:ext uri="{BB962C8B-B14F-4D97-AF65-F5344CB8AC3E}">
        <p14:creationId xmlns:p14="http://schemas.microsoft.com/office/powerpoint/2010/main" val="3394604001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50C711-CEB0-417E-AAFD-F41218A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745296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Рисунки 14, 15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16 – настольное приложение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8DFBBB-2E59-496C-8718-3C2DF1095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05" y="1865298"/>
            <a:ext cx="3880100" cy="3127403"/>
          </a:xfrm>
          <a:prstGeom prst="rect">
            <a:avLst/>
          </a:prstGeom>
          <a:ln>
            <a:solidFill>
              <a:srgbClr val="5E636F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2F8A09-C11B-42C5-96FF-9AE84C1CC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751" y="850900"/>
            <a:ext cx="4360553" cy="2473202"/>
          </a:xfrm>
          <a:prstGeom prst="rect">
            <a:avLst/>
          </a:prstGeom>
          <a:ln>
            <a:solidFill>
              <a:srgbClr val="5E636F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6D1F5EF-6C00-4C8D-8DBF-21B80A7A4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752" y="3428999"/>
            <a:ext cx="4360552" cy="2463589"/>
          </a:xfrm>
          <a:prstGeom prst="rect">
            <a:avLst/>
          </a:prstGeom>
          <a:ln>
            <a:solidFill>
              <a:srgbClr val="5E636F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432D9F-7B6E-4493-B872-B1417A772646}"/>
              </a:ext>
            </a:extLst>
          </p:cNvPr>
          <p:cNvSpPr txBox="1"/>
          <p:nvPr/>
        </p:nvSpPr>
        <p:spPr>
          <a:xfrm>
            <a:off x="9664700" y="875140"/>
            <a:ext cx="185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Роль: кладовщик</a:t>
            </a:r>
          </a:p>
        </p:txBody>
      </p:sp>
    </p:spTree>
    <p:extLst>
      <p:ext uri="{BB962C8B-B14F-4D97-AF65-F5344CB8AC3E}">
        <p14:creationId xmlns:p14="http://schemas.microsoft.com/office/powerpoint/2010/main" val="414413045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50C711-CEB0-417E-AAFD-F41218A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745296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Рисунки 17, 18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19 – настольное приложение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16025D-6CEC-47DC-9CF2-8939EF361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74" y="2051648"/>
            <a:ext cx="4012619" cy="326194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7834E22-8991-425B-B20F-D8CE1D4BA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060" y="850901"/>
            <a:ext cx="4527042" cy="25781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4686EB3-8757-4163-9F40-8DFBF3CC9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061" y="3529720"/>
            <a:ext cx="4554280" cy="257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3B3B43-5826-4277-AD45-65A97E928095}"/>
              </a:ext>
            </a:extLst>
          </p:cNvPr>
          <p:cNvSpPr txBox="1"/>
          <p:nvPr/>
        </p:nvSpPr>
        <p:spPr>
          <a:xfrm>
            <a:off x="9664700" y="875140"/>
            <a:ext cx="185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Роль: менеджер</a:t>
            </a:r>
          </a:p>
        </p:txBody>
      </p:sp>
    </p:spTree>
    <p:extLst>
      <p:ext uri="{BB962C8B-B14F-4D97-AF65-F5344CB8AC3E}">
        <p14:creationId xmlns:p14="http://schemas.microsoft.com/office/powerpoint/2010/main" val="1843916113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50C711-CEB0-417E-AAFD-F41218A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745296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Рисунки 20, 21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22 и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 – настольное приложение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CCAA51-F0A5-4259-BD2A-23460FF54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800" y="850900"/>
            <a:ext cx="4621600" cy="266272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8DB67E-B602-4B05-95E7-BDD9F7FD9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800" y="3648743"/>
            <a:ext cx="4621600" cy="263457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38F3FD-9138-421A-97CA-94840E35F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78" y="1014172"/>
            <a:ext cx="3238143" cy="2634571"/>
          </a:xfrm>
          <a:prstGeom prst="rect">
            <a:avLst/>
          </a:prstGeom>
          <a:ln>
            <a:solidFill>
              <a:srgbClr val="5E636F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9E9E837-0D77-4444-8435-B66C32B19A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78" y="3812015"/>
            <a:ext cx="3238143" cy="2357288"/>
          </a:xfrm>
          <a:prstGeom prst="rect">
            <a:avLst/>
          </a:prstGeom>
          <a:ln>
            <a:solidFill>
              <a:srgbClr val="5E636F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F0AF76C-3E1C-481E-BC4C-0EB24EB273CB}"/>
              </a:ext>
            </a:extLst>
          </p:cNvPr>
          <p:cNvSpPr txBox="1"/>
          <p:nvPr/>
        </p:nvSpPr>
        <p:spPr>
          <a:xfrm>
            <a:off x="9664700" y="875140"/>
            <a:ext cx="185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Роль: бухгалтер</a:t>
            </a:r>
          </a:p>
        </p:txBody>
      </p:sp>
    </p:spTree>
    <p:extLst>
      <p:ext uri="{BB962C8B-B14F-4D97-AF65-F5344CB8AC3E}">
        <p14:creationId xmlns:p14="http://schemas.microsoft.com/office/powerpoint/2010/main" val="3964784574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50C711-CEB0-417E-AAFD-F41218A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745296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Рисунки 24, 25, 26 и 2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мобильное приложение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FCB8CB-B52F-4B88-891C-54BEDE79F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0365" y="906465"/>
            <a:ext cx="2282953" cy="515375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5428853-B8FF-4F25-940E-8C9E71C32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573" y="881995"/>
            <a:ext cx="2282954" cy="51537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0562D03-C1D6-41D4-ABAE-3378A9480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163" y="906465"/>
            <a:ext cx="2282954" cy="515375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8DC0516-70B3-403E-B8CE-C71D7B3BC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4753" y="881995"/>
            <a:ext cx="2282954" cy="515375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893DBC6-5EA2-4F77-BBD3-0EA4FEC336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8399" y="955406"/>
            <a:ext cx="2261274" cy="510481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A1666C4-A8FB-427A-BC13-070281CB1D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594" y="881995"/>
            <a:ext cx="2282954" cy="515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31295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50C711-CEB0-417E-AAFD-F41218A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745296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Рисунки 2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2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28 и 29 – мобильное приложение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FCB8CB-B52F-4B88-891C-54BEDE79F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571" y="906465"/>
            <a:ext cx="2282953" cy="515375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5428853-B8FF-4F25-940E-8C9E71C32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52109" y="881995"/>
            <a:ext cx="2282954" cy="515375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0562D03-C1D6-41D4-ABAE-3378A9480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481" y="906465"/>
            <a:ext cx="2282954" cy="515375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8DC0516-70B3-403E-B8CE-C71D7B3BC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071" y="881995"/>
            <a:ext cx="2282954" cy="515375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893DBC6-5EA2-4F77-BBD3-0EA4FEC336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6661" y="906465"/>
            <a:ext cx="2261274" cy="510481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A1666C4-A8FB-427A-BC13-070281CB1D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265088" y="881995"/>
            <a:ext cx="2282954" cy="515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8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50C711-CEB0-417E-AAFD-F41218A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400" y="5745296"/>
            <a:ext cx="30226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Рисунки 30 – тестирование мобильного приложения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342B8B2C-FCE4-498B-8362-C6D5796E21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197604"/>
              </p:ext>
            </p:extLst>
          </p:nvPr>
        </p:nvGraphicFramePr>
        <p:xfrm>
          <a:off x="1028700" y="850901"/>
          <a:ext cx="6019800" cy="563352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623898">
                  <a:extLst>
                    <a:ext uri="{9D8B030D-6E8A-4147-A177-3AD203B41FA5}">
                      <a16:colId xmlns:a16="http://schemas.microsoft.com/office/drawing/2014/main" val="789596924"/>
                    </a:ext>
                  </a:extLst>
                </a:gridCol>
                <a:gridCol w="4395902">
                  <a:extLst>
                    <a:ext uri="{9D8B030D-6E8A-4147-A177-3AD203B41FA5}">
                      <a16:colId xmlns:a16="http://schemas.microsoft.com/office/drawing/2014/main" val="3296288805"/>
                    </a:ext>
                  </a:extLst>
                </a:gridCol>
              </a:tblGrid>
              <a:tr h="388502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TestCase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endParaRPr lang="ru-RU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902947"/>
                  </a:ext>
                </a:extLst>
              </a:tr>
              <a:tr h="388502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Приоритет теста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535703"/>
                  </a:ext>
                </a:extLst>
              </a:tr>
              <a:tr h="451639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тестирования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Успешная авторизация пользователя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781466"/>
                  </a:ext>
                </a:extLst>
              </a:tr>
              <a:tr h="451639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Резюме испытания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Проверка успешной авторизации пользователя через логин и пароль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160791"/>
                  </a:ext>
                </a:extLst>
              </a:tr>
              <a:tr h="637607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Шаги тестирования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Открыть приложение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Ввести логин и пароль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Нажать «Войти»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34090"/>
                  </a:ext>
                </a:extLst>
              </a:tr>
              <a:tr h="451639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Данные тестирования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Логин: 2</a:t>
                      </a:r>
                    </a:p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Пароль: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7039"/>
                  </a:ext>
                </a:extLst>
              </a:tr>
              <a:tr h="451639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Ожидаемый 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Пользователь успешно авторизован, открывается главное меню приложения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338705"/>
                  </a:ext>
                </a:extLst>
              </a:tr>
              <a:tr h="451639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Фактический 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666781"/>
                  </a:ext>
                </a:extLst>
              </a:tr>
              <a:tr h="388502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Предпосылки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Пользователь зарегистрирован в системе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166249"/>
                  </a:ext>
                </a:extLst>
              </a:tr>
              <a:tr h="388502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Постусловия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Пользователь находится в главном меню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776840"/>
                  </a:ext>
                </a:extLst>
              </a:tr>
              <a:tr h="368691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495994"/>
                  </a:ext>
                </a:extLst>
              </a:tr>
              <a:tr h="388502">
                <a:tc>
                  <a:txBody>
                    <a:bodyPr/>
                    <a:lstStyle/>
                    <a:p>
                      <a:r>
                        <a:rPr lang="ru-RU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Комментарий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 пройден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873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05772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5F285D3D-4109-4D5D-ABC4-A90300CDEEBB}"/>
              </a:ext>
            </a:extLst>
          </p:cNvPr>
          <p:cNvSpPr txBox="1">
            <a:spLocks/>
          </p:cNvSpPr>
          <p:nvPr/>
        </p:nvSpPr>
        <p:spPr>
          <a:xfrm>
            <a:off x="1244600" y="0"/>
            <a:ext cx="9702800" cy="850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/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Учебная практика по модулю ПМ01. Разработка модулей программного обеспечения для компьютерных систем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350C711-CEB0-417E-AAFD-F41218AD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300" y="5745296"/>
            <a:ext cx="5092700" cy="1104900"/>
          </a:xfrm>
        </p:spPr>
        <p:txBody>
          <a:bodyPr>
            <a:normAutofit/>
          </a:bodyPr>
          <a:lstStyle/>
          <a:p>
            <a:pPr algn="ctr" defTabSz="457200"/>
            <a:r>
              <a:rPr lang="ru-RU" sz="1800" cap="none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Рисунки 31 и 32 </a:t>
            </a:r>
            <a:r>
              <a:rPr lang="ru-RU" sz="1800" cap="none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– руководство оператора мобильного приложения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337017-E8FD-4AFC-8296-B5B19D436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850900"/>
            <a:ext cx="4986783" cy="51651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B610CB-AE48-4BDB-B7E1-A799370D8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844" y="846426"/>
            <a:ext cx="4925112" cy="51651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1893012"/>
      </p:ext>
    </p:extLst>
  </p:cSld>
  <p:clrMapOvr>
    <a:masterClrMapping/>
  </p:clrMapOvr>
  <p:transition spd="slow">
    <p:push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мплекс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563_TF22378848.potx" id="{6DCD0967-A04E-431F-9EF9-3DF61BC4AB39}" vid="{943180A9-332B-48B8-BEA3-0C7B70DB3063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Комплекс</Template>
  <TotalTime>441</TotalTime>
  <Words>457</Words>
  <Application>Microsoft Office PowerPoint</Application>
  <PresentationFormat>Широкоэкранный</PresentationFormat>
  <Paragraphs>85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Wingdings 3</vt:lpstr>
      <vt:lpstr>Комплекс</vt:lpstr>
      <vt:lpstr>Учебная практика по модулю  ПM 01. Разработка модулей программного обеспечения для компьютерных систем</vt:lpstr>
      <vt:lpstr>Рисунок 1 – диаграмма вариантов использования</vt:lpstr>
      <vt:lpstr>Презентация PowerPoint</vt:lpstr>
      <vt:lpstr>Презентация PowerPoint</vt:lpstr>
      <vt:lpstr>Рисунок 4 – ER диаграмма</vt:lpstr>
      <vt:lpstr>Рисунок 5 – диаграмма из БД</vt:lpstr>
      <vt:lpstr>Рисунки 6 и 7 – приложение API</vt:lpstr>
      <vt:lpstr>Рисунки 8, 9 и 10 – библиотека</vt:lpstr>
      <vt:lpstr>Рисунки 11, 12 и 13 – настольное приложение</vt:lpstr>
      <vt:lpstr>Рисунки 14, 15 и 16 – настольное приложение</vt:lpstr>
      <vt:lpstr>Рисунки 17, 18 и 19 – настольное приложение</vt:lpstr>
      <vt:lpstr>Рисунки 20, 21 22 и 23 – настольное приложение</vt:lpstr>
      <vt:lpstr>Рисунки 24, 25, 26 и 27 – мобильное приложение</vt:lpstr>
      <vt:lpstr>Рисунки 26, 27, 28 и 29 – мобильное приложение</vt:lpstr>
      <vt:lpstr>Рисунки 30 – тестирование мобильного приложения</vt:lpstr>
      <vt:lpstr>Рисунки 31 и 32 – руководство оператора мобильного приложения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Учебная практика по модулю  ПM 01. Разработка модулей программного обеспечения для компьютерных систем</dc:title>
  <dc:creator>Лада Семакина</dc:creator>
  <cp:lastModifiedBy>Лада Семакина</cp:lastModifiedBy>
  <cp:revision>24</cp:revision>
  <dcterms:created xsi:type="dcterms:W3CDTF">2025-03-17T18:26:45Z</dcterms:created>
  <dcterms:modified xsi:type="dcterms:W3CDTF">2025-03-19T10:05:20Z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